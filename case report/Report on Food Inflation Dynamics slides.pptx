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51812-3EE2-4B4D-8237-74510DCFB9FC}" v="13" dt="2025-11-28T22:31:14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40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Hooper" userId="491c5099b299f1ac" providerId="LiveId" clId="{27AA5CA3-3DC0-4DB0-AFD4-1B0189869250}"/>
    <pc:docChg chg="custSel modSld">
      <pc:chgData name="Evan Hooper" userId="491c5099b299f1ac" providerId="LiveId" clId="{27AA5CA3-3DC0-4DB0-AFD4-1B0189869250}" dt="2025-11-28T22:31:19.792" v="34" actId="1076"/>
      <pc:docMkLst>
        <pc:docMk/>
      </pc:docMkLst>
      <pc:sldChg chg="addSp delSp modSp mod">
        <pc:chgData name="Evan Hooper" userId="491c5099b299f1ac" providerId="LiveId" clId="{27AA5CA3-3DC0-4DB0-AFD4-1B0189869250}" dt="2025-11-28T22:29:36.512" v="13" actId="1076"/>
        <pc:sldMkLst>
          <pc:docMk/>
          <pc:sldMk cId="3120646592" sldId="263"/>
        </pc:sldMkLst>
        <pc:spChg chg="del">
          <ac:chgData name="Evan Hooper" userId="491c5099b299f1ac" providerId="LiveId" clId="{27AA5CA3-3DC0-4DB0-AFD4-1B0189869250}" dt="2025-11-28T22:29:24.876" v="10" actId="21"/>
          <ac:spMkLst>
            <pc:docMk/>
            <pc:sldMk cId="3120646592" sldId="263"/>
            <ac:spMk id="3" creationId="{A534EF7C-2679-4509-358D-C31CF69C1AEF}"/>
          </ac:spMkLst>
        </pc:spChg>
        <pc:spChg chg="del">
          <ac:chgData name="Evan Hooper" userId="491c5099b299f1ac" providerId="LiveId" clId="{27AA5CA3-3DC0-4DB0-AFD4-1B0189869250}" dt="2025-11-28T22:28:21.447" v="0" actId="478"/>
          <ac:spMkLst>
            <pc:docMk/>
            <pc:sldMk cId="3120646592" sldId="263"/>
            <ac:spMk id="4" creationId="{403E87F5-7803-71E0-BCA9-D7655AF9E502}"/>
          </ac:spMkLst>
        </pc:spChg>
        <pc:spChg chg="add mod">
          <ac:chgData name="Evan Hooper" userId="491c5099b299f1ac" providerId="LiveId" clId="{27AA5CA3-3DC0-4DB0-AFD4-1B0189869250}" dt="2025-11-28T22:29:26.417" v="11"/>
          <ac:spMkLst>
            <pc:docMk/>
            <pc:sldMk cId="3120646592" sldId="263"/>
            <ac:spMk id="7" creationId="{A534EF7C-2679-4509-358D-C31CF69C1AEF}"/>
          </ac:spMkLst>
        </pc:spChg>
        <pc:picChg chg="add mod">
          <ac:chgData name="Evan Hooper" userId="491c5099b299f1ac" providerId="LiveId" clId="{27AA5CA3-3DC0-4DB0-AFD4-1B0189869250}" dt="2025-11-28T22:29:11.066" v="9" actId="1076"/>
          <ac:picMkLst>
            <pc:docMk/>
            <pc:sldMk cId="3120646592" sldId="263"/>
            <ac:picMk id="5" creationId="{C4A147FB-DFFD-862D-CB4C-A3818A50F5FA}"/>
          </ac:picMkLst>
        </pc:picChg>
        <pc:picChg chg="add mod">
          <ac:chgData name="Evan Hooper" userId="491c5099b299f1ac" providerId="LiveId" clId="{27AA5CA3-3DC0-4DB0-AFD4-1B0189869250}" dt="2025-11-28T22:29:00" v="4" actId="14100"/>
          <ac:picMkLst>
            <pc:docMk/>
            <pc:sldMk cId="3120646592" sldId="263"/>
            <ac:picMk id="6" creationId="{E5423B82-86F8-4C3F-904F-4FD37204524C}"/>
          </ac:picMkLst>
        </pc:picChg>
        <pc:picChg chg="add mod">
          <ac:chgData name="Evan Hooper" userId="491c5099b299f1ac" providerId="LiveId" clId="{27AA5CA3-3DC0-4DB0-AFD4-1B0189869250}" dt="2025-11-28T22:29:36.512" v="13" actId="1076"/>
          <ac:picMkLst>
            <pc:docMk/>
            <pc:sldMk cId="3120646592" sldId="263"/>
            <ac:picMk id="8" creationId="{F954D8BA-565A-0ABF-C716-F5CB29F12459}"/>
          </ac:picMkLst>
        </pc:picChg>
      </pc:sldChg>
      <pc:sldChg chg="addSp delSp modSp mod">
        <pc:chgData name="Evan Hooper" userId="491c5099b299f1ac" providerId="LiveId" clId="{27AA5CA3-3DC0-4DB0-AFD4-1B0189869250}" dt="2025-11-28T22:31:19.792" v="34" actId="1076"/>
        <pc:sldMkLst>
          <pc:docMk/>
          <pc:sldMk cId="3880215790" sldId="264"/>
        </pc:sldMkLst>
        <pc:spChg chg="del">
          <ac:chgData name="Evan Hooper" userId="491c5099b299f1ac" providerId="LiveId" clId="{27AA5CA3-3DC0-4DB0-AFD4-1B0189869250}" dt="2025-11-28T22:30:43.067" v="25" actId="21"/>
          <ac:spMkLst>
            <pc:docMk/>
            <pc:sldMk cId="3880215790" sldId="264"/>
            <ac:spMk id="3" creationId="{F29B558C-D8EF-610A-BC5C-2B0EA0DB6748}"/>
          </ac:spMkLst>
        </pc:spChg>
        <pc:spChg chg="del">
          <ac:chgData name="Evan Hooper" userId="491c5099b299f1ac" providerId="LiveId" clId="{27AA5CA3-3DC0-4DB0-AFD4-1B0189869250}" dt="2025-11-28T22:29:50.816" v="14" actId="478"/>
          <ac:spMkLst>
            <pc:docMk/>
            <pc:sldMk cId="3880215790" sldId="264"/>
            <ac:spMk id="4" creationId="{945A7FFB-DD8A-ECDD-9B19-496380C9D85F}"/>
          </ac:spMkLst>
        </pc:spChg>
        <pc:spChg chg="add mod">
          <ac:chgData name="Evan Hooper" userId="491c5099b299f1ac" providerId="LiveId" clId="{27AA5CA3-3DC0-4DB0-AFD4-1B0189869250}" dt="2025-11-28T22:30:43.841" v="26"/>
          <ac:spMkLst>
            <pc:docMk/>
            <pc:sldMk cId="3880215790" sldId="264"/>
            <ac:spMk id="7" creationId="{F29B558C-D8EF-610A-BC5C-2B0EA0DB6748}"/>
          </ac:spMkLst>
        </pc:spChg>
        <pc:graphicFrameChg chg="add mod">
          <ac:chgData name="Evan Hooper" userId="491c5099b299f1ac" providerId="LiveId" clId="{27AA5CA3-3DC0-4DB0-AFD4-1B0189869250}" dt="2025-11-28T22:30:12.034" v="17" actId="1076"/>
          <ac:graphicFrameMkLst>
            <pc:docMk/>
            <pc:sldMk cId="3880215790" sldId="264"/>
            <ac:graphicFrameMk id="5" creationId="{6434B779-3654-3B12-8B72-E720B06D7F49}"/>
          </ac:graphicFrameMkLst>
        </pc:graphicFrameChg>
        <pc:graphicFrameChg chg="add mod">
          <ac:chgData name="Evan Hooper" userId="491c5099b299f1ac" providerId="LiveId" clId="{27AA5CA3-3DC0-4DB0-AFD4-1B0189869250}" dt="2025-11-28T22:30:26.119" v="24" actId="1076"/>
          <ac:graphicFrameMkLst>
            <pc:docMk/>
            <pc:sldMk cId="3880215790" sldId="264"/>
            <ac:graphicFrameMk id="6" creationId="{4BCE6A0A-2FA9-A4AB-86F7-7088DEBC999A}"/>
          </ac:graphicFrameMkLst>
        </pc:graphicFrameChg>
        <pc:graphicFrameChg chg="add mod">
          <ac:chgData name="Evan Hooper" userId="491c5099b299f1ac" providerId="LiveId" clId="{27AA5CA3-3DC0-4DB0-AFD4-1B0189869250}" dt="2025-11-28T22:31:03.567" v="30" actId="1076"/>
          <ac:graphicFrameMkLst>
            <pc:docMk/>
            <pc:sldMk cId="3880215790" sldId="264"/>
            <ac:graphicFrameMk id="8" creationId="{9FD1F22E-D8C4-B31B-6E0E-FBFCE1BC6290}"/>
          </ac:graphicFrameMkLst>
        </pc:graphicFrameChg>
        <pc:graphicFrameChg chg="add mod">
          <ac:chgData name="Evan Hooper" userId="491c5099b299f1ac" providerId="LiveId" clId="{27AA5CA3-3DC0-4DB0-AFD4-1B0189869250}" dt="2025-11-28T22:31:19.792" v="34" actId="1076"/>
          <ac:graphicFrameMkLst>
            <pc:docMk/>
            <pc:sldMk cId="3880215790" sldId="264"/>
            <ac:graphicFrameMk id="9" creationId="{0ACB2788-1B71-3CAC-1208-13227AB6988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in\Downloads\Fruits%20and%20Veggies%20data%20+%20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in\Downloads\Fruits%20and%20Veggies%20data%20+%20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in\Downloads\Fruits%20and%20Veggies%20data%20+%20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in\Downloads\Fruits%20and%20Veggies%20data%20+%20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'BLS Data Series'!$A$13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Series'!$B$13:$O$13</c:f>
              <c:numCache>
                <c:formatCode>#0.000</c:formatCode>
                <c:ptCount val="14"/>
                <c:pt idx="0">
                  <c:v>298.78100000000001</c:v>
                </c:pt>
                <c:pt idx="1">
                  <c:v>295.68599999999998</c:v>
                </c:pt>
                <c:pt idx="2">
                  <c:v>289.858</c:v>
                </c:pt>
                <c:pt idx="3">
                  <c:v>290.178</c:v>
                </c:pt>
                <c:pt idx="4">
                  <c:v>293.01100000000002</c:v>
                </c:pt>
                <c:pt idx="5">
                  <c:v>288.96800000000002</c:v>
                </c:pt>
                <c:pt idx="6">
                  <c:v>287.81599999999997</c:v>
                </c:pt>
                <c:pt idx="7">
                  <c:v>291.34399999999999</c:v>
                </c:pt>
                <c:pt idx="8">
                  <c:v>295.39400000000001</c:v>
                </c:pt>
                <c:pt idx="9">
                  <c:v>297.93099999999998</c:v>
                </c:pt>
                <c:pt idx="10">
                  <c:v>298.03699999999998</c:v>
                </c:pt>
                <c:pt idx="11">
                  <c:v>299.07799999999997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B5-4017-A0AE-FF76C06EC256}"/>
            </c:ext>
          </c:extLst>
        </c:ser>
        <c:ser>
          <c:idx val="1"/>
          <c:order val="1"/>
          <c:tx>
            <c:strRef>
              <c:f>'BLS Data Series'!$A$14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Series'!$B$14:$O$14</c:f>
              <c:numCache>
                <c:formatCode>#0.000</c:formatCode>
                <c:ptCount val="14"/>
                <c:pt idx="0">
                  <c:v>306.79599999999999</c:v>
                </c:pt>
                <c:pt idx="1">
                  <c:v>306.77800000000002</c:v>
                </c:pt>
                <c:pt idx="2">
                  <c:v>298.16199999999998</c:v>
                </c:pt>
                <c:pt idx="3">
                  <c:v>296.21699999999998</c:v>
                </c:pt>
                <c:pt idx="4">
                  <c:v>295.97399999999999</c:v>
                </c:pt>
                <c:pt idx="5">
                  <c:v>292.733</c:v>
                </c:pt>
                <c:pt idx="6">
                  <c:v>291.95999999999998</c:v>
                </c:pt>
                <c:pt idx="7">
                  <c:v>292.15600000000001</c:v>
                </c:pt>
                <c:pt idx="8">
                  <c:v>293.423</c:v>
                </c:pt>
                <c:pt idx="9">
                  <c:v>295.61599999999999</c:v>
                </c:pt>
                <c:pt idx="10">
                  <c:v>293.55399999999997</c:v>
                </c:pt>
                <c:pt idx="11">
                  <c:v>291.95699999999999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B5-4017-A0AE-FF76C06EC256}"/>
            </c:ext>
          </c:extLst>
        </c:ser>
        <c:ser>
          <c:idx val="2"/>
          <c:order val="2"/>
          <c:tx>
            <c:strRef>
              <c:f>'BLS Data Series'!$A$15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Series'!$B$15:$O$15</c:f>
              <c:numCache>
                <c:formatCode>#0.000</c:formatCode>
                <c:ptCount val="14"/>
                <c:pt idx="0">
                  <c:v>291.67899999999997</c:v>
                </c:pt>
                <c:pt idx="1">
                  <c:v>292.22199999999998</c:v>
                </c:pt>
                <c:pt idx="2">
                  <c:v>292.93200000000002</c:v>
                </c:pt>
                <c:pt idx="3">
                  <c:v>298.16399999999999</c:v>
                </c:pt>
                <c:pt idx="4">
                  <c:v>298.47000000000003</c:v>
                </c:pt>
                <c:pt idx="5">
                  <c:v>294.78800000000001</c:v>
                </c:pt>
                <c:pt idx="6">
                  <c:v>294.935</c:v>
                </c:pt>
                <c:pt idx="7">
                  <c:v>295.00900000000001</c:v>
                </c:pt>
                <c:pt idx="8">
                  <c:v>297.04700000000003</c:v>
                </c:pt>
                <c:pt idx="9">
                  <c:v>299.7</c:v>
                </c:pt>
                <c:pt idx="10">
                  <c:v>296.791</c:v>
                </c:pt>
                <c:pt idx="11">
                  <c:v>296.476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B5-4017-A0AE-FF76C06EC256}"/>
            </c:ext>
          </c:extLst>
        </c:ser>
        <c:ser>
          <c:idx val="3"/>
          <c:order val="3"/>
          <c:tx>
            <c:strRef>
              <c:f>'BLS Data Series'!$A$16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Series'!$B$16:$O$16</c:f>
              <c:numCache>
                <c:formatCode>#0.000</c:formatCode>
                <c:ptCount val="14"/>
                <c:pt idx="0">
                  <c:v>301.81400000000002</c:v>
                </c:pt>
                <c:pt idx="1">
                  <c:v>298.50299999999999</c:v>
                </c:pt>
                <c:pt idx="2">
                  <c:v>293.87</c:v>
                </c:pt>
                <c:pt idx="3">
                  <c:v>296.863</c:v>
                </c:pt>
                <c:pt idx="4">
                  <c:v>297.21100000000001</c:v>
                </c:pt>
                <c:pt idx="5">
                  <c:v>295.52300000000002</c:v>
                </c:pt>
                <c:pt idx="6">
                  <c:v>297.63200000000001</c:v>
                </c:pt>
                <c:pt idx="7">
                  <c:v>297.64400000000001</c:v>
                </c:pt>
                <c:pt idx="8">
                  <c:v>298.43200000000002</c:v>
                </c:pt>
                <c:pt idx="9">
                  <c:v>298.53100000000001</c:v>
                </c:pt>
                <c:pt idx="10">
                  <c:v>296.36200000000002</c:v>
                </c:pt>
                <c:pt idx="11">
                  <c:v>301.13400000000001</c:v>
                </c:pt>
                <c:pt idx="12">
                  <c:v>297.29700000000003</c:v>
                </c:pt>
                <c:pt idx="13">
                  <c:v>298.28899999999999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B5-4017-A0AE-FF76C06EC256}"/>
            </c:ext>
          </c:extLst>
        </c:ser>
        <c:ser>
          <c:idx val="4"/>
          <c:order val="4"/>
          <c:tx>
            <c:strRef>
              <c:f>'BLS Data Series'!$A$17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Series'!$B$17:$O$17</c:f>
              <c:numCache>
                <c:formatCode>#0.000</c:formatCode>
                <c:ptCount val="14"/>
                <c:pt idx="0">
                  <c:v>304.60500000000002</c:v>
                </c:pt>
                <c:pt idx="1">
                  <c:v>304.62099999999998</c:v>
                </c:pt>
                <c:pt idx="2">
                  <c:v>305.399</c:v>
                </c:pt>
                <c:pt idx="3">
                  <c:v>303.50299999999999</c:v>
                </c:pt>
                <c:pt idx="4">
                  <c:v>302.35199999999998</c:v>
                </c:pt>
                <c:pt idx="5">
                  <c:v>298.61099999999999</c:v>
                </c:pt>
                <c:pt idx="6">
                  <c:v>299.35000000000002</c:v>
                </c:pt>
                <c:pt idx="7">
                  <c:v>298.60000000000002</c:v>
                </c:pt>
                <c:pt idx="8">
                  <c:v>297.30900000000003</c:v>
                </c:pt>
                <c:pt idx="9">
                  <c:v>301.31799999999998</c:v>
                </c:pt>
                <c:pt idx="10">
                  <c:v>297.47199999999998</c:v>
                </c:pt>
                <c:pt idx="11">
                  <c:v>297.10500000000002</c:v>
                </c:pt>
                <c:pt idx="12">
                  <c:v>303.18200000000002</c:v>
                </c:pt>
                <c:pt idx="13">
                  <c:v>298.52600000000001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B5-4017-A0AE-FF76C06EC256}"/>
            </c:ext>
          </c:extLst>
        </c:ser>
        <c:ser>
          <c:idx val="5"/>
          <c:order val="5"/>
          <c:tx>
            <c:strRef>
              <c:f>'BLS Data Series'!$A$18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Series'!$B$18:$O$18</c:f>
              <c:numCache>
                <c:formatCode>#0.000</c:formatCode>
                <c:ptCount val="14"/>
                <c:pt idx="0">
                  <c:v>301.67899999999997</c:v>
                </c:pt>
                <c:pt idx="1">
                  <c:v>299.81700000000001</c:v>
                </c:pt>
                <c:pt idx="2">
                  <c:v>299.64100000000002</c:v>
                </c:pt>
                <c:pt idx="3">
                  <c:v>304.80900000000003</c:v>
                </c:pt>
                <c:pt idx="4">
                  <c:v>306.798</c:v>
                </c:pt>
                <c:pt idx="5">
                  <c:v>305.39299999999997</c:v>
                </c:pt>
                <c:pt idx="6">
                  <c:v>306.12299999999999</c:v>
                </c:pt>
                <c:pt idx="7">
                  <c:v>306.75400000000002</c:v>
                </c:pt>
                <c:pt idx="8">
                  <c:v>306.24900000000002</c:v>
                </c:pt>
                <c:pt idx="9">
                  <c:v>309.07100000000003</c:v>
                </c:pt>
                <c:pt idx="10">
                  <c:v>306.31099999999998</c:v>
                </c:pt>
                <c:pt idx="11">
                  <c:v>306.50599999999997</c:v>
                </c:pt>
                <c:pt idx="12">
                  <c:v>303.02300000000002</c:v>
                </c:pt>
                <c:pt idx="13">
                  <c:v>306.83600000000001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1B5-4017-A0AE-FF76C06EC256}"/>
            </c:ext>
          </c:extLst>
        </c:ser>
        <c:ser>
          <c:idx val="6"/>
          <c:order val="6"/>
          <c:tx>
            <c:strRef>
              <c:f>'BLS Data Series'!$A$19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Series'!$B$19:$O$19</c:f>
              <c:numCache>
                <c:formatCode>#0.000</c:formatCode>
                <c:ptCount val="14"/>
                <c:pt idx="0">
                  <c:v>309.95400000000001</c:v>
                </c:pt>
                <c:pt idx="1">
                  <c:v>309.99299999999999</c:v>
                </c:pt>
                <c:pt idx="2">
                  <c:v>311.16800000000001</c:v>
                </c:pt>
                <c:pt idx="3">
                  <c:v>314.97300000000001</c:v>
                </c:pt>
                <c:pt idx="4">
                  <c:v>315.74799999999999</c:v>
                </c:pt>
                <c:pt idx="5">
                  <c:v>315.21100000000001</c:v>
                </c:pt>
                <c:pt idx="6">
                  <c:v>312.875</c:v>
                </c:pt>
                <c:pt idx="7">
                  <c:v>313.67200000000003</c:v>
                </c:pt>
                <c:pt idx="8">
                  <c:v>315.428</c:v>
                </c:pt>
                <c:pt idx="9">
                  <c:v>318.31599999999997</c:v>
                </c:pt>
                <c:pt idx="10">
                  <c:v>318.43599999999998</c:v>
                </c:pt>
                <c:pt idx="11">
                  <c:v>321.93099999999998</c:v>
                </c:pt>
                <c:pt idx="12">
                  <c:v>312.84100000000001</c:v>
                </c:pt>
                <c:pt idx="13">
                  <c:v>316.77600000000001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B5-4017-A0AE-FF76C06EC256}"/>
            </c:ext>
          </c:extLst>
        </c:ser>
        <c:ser>
          <c:idx val="7"/>
          <c:order val="7"/>
          <c:tx>
            <c:strRef>
              <c:f>'BLS Data Series'!$A$20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Series'!$B$20:$O$20</c:f>
              <c:numCache>
                <c:formatCode>#0.000</c:formatCode>
                <c:ptCount val="14"/>
                <c:pt idx="0">
                  <c:v>327.45100000000002</c:v>
                </c:pt>
                <c:pt idx="1">
                  <c:v>333.67500000000001</c:v>
                </c:pt>
                <c:pt idx="2">
                  <c:v>337.50299999999999</c:v>
                </c:pt>
                <c:pt idx="3">
                  <c:v>339.38499999999999</c:v>
                </c:pt>
                <c:pt idx="4">
                  <c:v>341.59399999999999</c:v>
                </c:pt>
                <c:pt idx="5">
                  <c:v>340.59399999999999</c:v>
                </c:pt>
                <c:pt idx="6">
                  <c:v>341.839</c:v>
                </c:pt>
                <c:pt idx="7">
                  <c:v>343.221</c:v>
                </c:pt>
                <c:pt idx="8">
                  <c:v>348.173</c:v>
                </c:pt>
                <c:pt idx="9">
                  <c:v>348.02100000000002</c:v>
                </c:pt>
                <c:pt idx="10">
                  <c:v>349.46199999999999</c:v>
                </c:pt>
                <c:pt idx="11">
                  <c:v>349.13400000000001</c:v>
                </c:pt>
                <c:pt idx="12">
                  <c:v>336.7</c:v>
                </c:pt>
                <c:pt idx="13">
                  <c:v>346.642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1B5-4017-A0AE-FF76C06EC256}"/>
            </c:ext>
          </c:extLst>
        </c:ser>
        <c:ser>
          <c:idx val="8"/>
          <c:order val="8"/>
          <c:tx>
            <c:strRef>
              <c:f>'BLS Data Series'!$A$21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Series'!$B$21:$O$21</c:f>
              <c:numCache>
                <c:formatCode>#0.000</c:formatCode>
                <c:ptCount val="14"/>
                <c:pt idx="0">
                  <c:v>351.029</c:v>
                </c:pt>
                <c:pt idx="1">
                  <c:v>351.24900000000002</c:v>
                </c:pt>
                <c:pt idx="2">
                  <c:v>345.81400000000002</c:v>
                </c:pt>
                <c:pt idx="3">
                  <c:v>346.26900000000001</c:v>
                </c:pt>
                <c:pt idx="4">
                  <c:v>350.98599999999999</c:v>
                </c:pt>
                <c:pt idx="5">
                  <c:v>350.72399999999999</c:v>
                </c:pt>
                <c:pt idx="6">
                  <c:v>351.64600000000002</c:v>
                </c:pt>
                <c:pt idx="7">
                  <c:v>350.428</c:v>
                </c:pt>
                <c:pt idx="8">
                  <c:v>351.02</c:v>
                </c:pt>
                <c:pt idx="9">
                  <c:v>351.952</c:v>
                </c:pt>
                <c:pt idx="10">
                  <c:v>350.73599999999999</c:v>
                </c:pt>
                <c:pt idx="11">
                  <c:v>350.25</c:v>
                </c:pt>
                <c:pt idx="12">
                  <c:v>349.34500000000003</c:v>
                </c:pt>
                <c:pt idx="13">
                  <c:v>351.005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B5-4017-A0AE-FF76C06EC256}"/>
            </c:ext>
          </c:extLst>
        </c:ser>
        <c:ser>
          <c:idx val="9"/>
          <c:order val="9"/>
          <c:tx>
            <c:strRef>
              <c:f>'BLS Data Series'!$A$22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Series'!$B$22:$O$22</c:f>
              <c:numCache>
                <c:formatCode>#0.000</c:formatCode>
                <c:ptCount val="14"/>
                <c:pt idx="0">
                  <c:v>354.798</c:v>
                </c:pt>
                <c:pt idx="1">
                  <c:v>353.96499999999997</c:v>
                </c:pt>
                <c:pt idx="2">
                  <c:v>352.84100000000001</c:v>
                </c:pt>
                <c:pt idx="3">
                  <c:v>352.274</c:v>
                </c:pt>
                <c:pt idx="4">
                  <c:v>353.084</c:v>
                </c:pt>
                <c:pt idx="5">
                  <c:v>348.90100000000001</c:v>
                </c:pt>
                <c:pt idx="6">
                  <c:v>350.96199999999999</c:v>
                </c:pt>
                <c:pt idx="7">
                  <c:v>349.59899999999999</c:v>
                </c:pt>
                <c:pt idx="8">
                  <c:v>353.50799999999998</c:v>
                </c:pt>
                <c:pt idx="9">
                  <c:v>355.29199999999997</c:v>
                </c:pt>
                <c:pt idx="10">
                  <c:v>354.69600000000003</c:v>
                </c:pt>
                <c:pt idx="11">
                  <c:v>353.63</c:v>
                </c:pt>
                <c:pt idx="12">
                  <c:v>352.64400000000001</c:v>
                </c:pt>
                <c:pt idx="13">
                  <c:v>352.94799999999998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1B5-4017-A0AE-FF76C06EC256}"/>
            </c:ext>
          </c:extLst>
        </c:ser>
        <c:ser>
          <c:idx val="10"/>
          <c:order val="10"/>
          <c:tx>
            <c:strRef>
              <c:f>'BLS Data Series'!$A$23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Series'!$B$12:$O$12</c:f>
              <c:strCache>
                <c:ptCount val="1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HALF1</c:v>
                </c:pt>
                <c:pt idx="13">
                  <c:v>HALF2</c:v>
                </c:pt>
              </c:strCache>
            </c:strRef>
          </c:cat>
          <c:val>
            <c:numRef>
              <c:f>'BLS Data Series'!$B$23:$O$23</c:f>
              <c:numCache>
                <c:formatCode>#0.000</c:formatCode>
                <c:ptCount val="14"/>
                <c:pt idx="0">
                  <c:v>355.83699999999999</c:v>
                </c:pt>
                <c:pt idx="1">
                  <c:v>353.197</c:v>
                </c:pt>
                <c:pt idx="2">
                  <c:v>350.37900000000002</c:v>
                </c:pt>
                <c:pt idx="3">
                  <c:v>349.18700000000001</c:v>
                </c:pt>
                <c:pt idx="4">
                  <c:v>351.33499999999998</c:v>
                </c:pt>
                <c:pt idx="5">
                  <c:v>351.41399999999999</c:v>
                </c:pt>
                <c:pt idx="6">
                  <c:v>351.76400000000001</c:v>
                </c:pt>
                <c:pt idx="7">
                  <c:v>356.10399999999998</c:v>
                </c:pt>
                <c:pt idx="8">
                  <c:v>358.01900000000001</c:v>
                </c:pt>
                <c:pt idx="12">
                  <c:v>351.892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1B5-4017-A0AE-FF76C06EC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2372719"/>
        <c:axId val="1052369519"/>
      </c:barChart>
      <c:catAx>
        <c:axId val="105237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2369519"/>
        <c:crosses val="autoZero"/>
        <c:auto val="1"/>
        <c:lblAlgn val="ctr"/>
        <c:lblOffset val="100"/>
        <c:noMultiLvlLbl val="0"/>
      </c:catAx>
      <c:valAx>
        <c:axId val="1052369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2372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'BLS Data Series'!$B$12</c:f>
              <c:strCache>
                <c:ptCount val="1"/>
                <c:pt idx="0">
                  <c:v>Jan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508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47956824146981625"/>
                  <c:y val="0.31154491105278509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'BLS Data Series'!$A$13:$A$23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'BLS Data Series'!$B$13:$B$23</c:f>
              <c:numCache>
                <c:formatCode>#0.000</c:formatCode>
                <c:ptCount val="11"/>
                <c:pt idx="0">
                  <c:v>298.78100000000001</c:v>
                </c:pt>
                <c:pt idx="1">
                  <c:v>306.79599999999999</c:v>
                </c:pt>
                <c:pt idx="2">
                  <c:v>291.67899999999997</c:v>
                </c:pt>
                <c:pt idx="3">
                  <c:v>301.81400000000002</c:v>
                </c:pt>
                <c:pt idx="4">
                  <c:v>304.60500000000002</c:v>
                </c:pt>
                <c:pt idx="5">
                  <c:v>301.67899999999997</c:v>
                </c:pt>
                <c:pt idx="6">
                  <c:v>309.95400000000001</c:v>
                </c:pt>
                <c:pt idx="7">
                  <c:v>327.45100000000002</c:v>
                </c:pt>
                <c:pt idx="8">
                  <c:v>351.029</c:v>
                </c:pt>
                <c:pt idx="9">
                  <c:v>354.798</c:v>
                </c:pt>
                <c:pt idx="10">
                  <c:v>355.83699999999999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84-409D-A733-CF823A7BE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426607"/>
        <c:axId val="446248655"/>
      </c:lineChart>
      <c:catAx>
        <c:axId val="446426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248655"/>
        <c:crosses val="autoZero"/>
        <c:auto val="1"/>
        <c:lblAlgn val="ctr"/>
        <c:lblOffset val="100"/>
        <c:noMultiLvlLbl val="0"/>
      </c:catAx>
      <c:valAx>
        <c:axId val="446248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426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'BLS Data Series'!$A$36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Series'!$B$36:$M$36</c:f>
              <c:numCache>
                <c:formatCode>#0.0</c:formatCode>
                <c:ptCount val="12"/>
                <c:pt idx="0">
                  <c:v>207.8</c:v>
                </c:pt>
                <c:pt idx="1">
                  <c:v>208.6</c:v>
                </c:pt>
                <c:pt idx="2">
                  <c:v>211</c:v>
                </c:pt>
                <c:pt idx="3">
                  <c:v>208.3</c:v>
                </c:pt>
                <c:pt idx="4">
                  <c:v>208.9</c:v>
                </c:pt>
                <c:pt idx="5">
                  <c:v>208.9</c:v>
                </c:pt>
                <c:pt idx="6">
                  <c:v>208.6</c:v>
                </c:pt>
                <c:pt idx="7">
                  <c:v>206.3</c:v>
                </c:pt>
                <c:pt idx="8">
                  <c:v>207.1</c:v>
                </c:pt>
                <c:pt idx="9">
                  <c:v>206.1</c:v>
                </c:pt>
                <c:pt idx="10">
                  <c:v>207.1</c:v>
                </c:pt>
                <c:pt idx="11">
                  <c:v>205.3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9-4348-A0B5-7037328AE0D0}"/>
            </c:ext>
          </c:extLst>
        </c:ser>
        <c:ser>
          <c:idx val="1"/>
          <c:order val="1"/>
          <c:tx>
            <c:strRef>
              <c:f>'BLS Data Series'!$A$37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Series'!$B$37:$M$37</c:f>
              <c:numCache>
                <c:formatCode>#0.0</c:formatCode>
                <c:ptCount val="12"/>
                <c:pt idx="0">
                  <c:v>203.5</c:v>
                </c:pt>
                <c:pt idx="1">
                  <c:v>204.4</c:v>
                </c:pt>
                <c:pt idx="2">
                  <c:v>203.5</c:v>
                </c:pt>
                <c:pt idx="3">
                  <c:v>203.2</c:v>
                </c:pt>
                <c:pt idx="4">
                  <c:v>203.7</c:v>
                </c:pt>
                <c:pt idx="5">
                  <c:v>203.9</c:v>
                </c:pt>
                <c:pt idx="6">
                  <c:v>204.7</c:v>
                </c:pt>
                <c:pt idx="7">
                  <c:v>206</c:v>
                </c:pt>
                <c:pt idx="8">
                  <c:v>207</c:v>
                </c:pt>
                <c:pt idx="9">
                  <c:v>206.6</c:v>
                </c:pt>
                <c:pt idx="10">
                  <c:v>208.2</c:v>
                </c:pt>
                <c:pt idx="11">
                  <c:v>208.9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29-4348-A0B5-7037328AE0D0}"/>
            </c:ext>
          </c:extLst>
        </c:ser>
        <c:ser>
          <c:idx val="2"/>
          <c:order val="2"/>
          <c:tx>
            <c:strRef>
              <c:f>'BLS Data Series'!$A$38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Series'!$B$38:$M$38</c:f>
              <c:numCache>
                <c:formatCode>#0.0</c:formatCode>
                <c:ptCount val="12"/>
                <c:pt idx="0">
                  <c:v>208.7</c:v>
                </c:pt>
                <c:pt idx="1">
                  <c:v>207.8</c:v>
                </c:pt>
                <c:pt idx="2">
                  <c:v>207.9</c:v>
                </c:pt>
                <c:pt idx="3">
                  <c:v>209</c:v>
                </c:pt>
                <c:pt idx="4">
                  <c:v>208.8</c:v>
                </c:pt>
                <c:pt idx="5">
                  <c:v>208.8</c:v>
                </c:pt>
                <c:pt idx="6">
                  <c:v>208.5</c:v>
                </c:pt>
                <c:pt idx="7">
                  <c:v>208.7</c:v>
                </c:pt>
                <c:pt idx="8">
                  <c:v>208.3</c:v>
                </c:pt>
                <c:pt idx="9">
                  <c:v>208.7</c:v>
                </c:pt>
                <c:pt idx="10">
                  <c:v>210.1</c:v>
                </c:pt>
                <c:pt idx="11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29-4348-A0B5-7037328AE0D0}"/>
            </c:ext>
          </c:extLst>
        </c:ser>
        <c:ser>
          <c:idx val="3"/>
          <c:order val="3"/>
          <c:tx>
            <c:strRef>
              <c:f>'BLS Data Series'!$A$39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Series'!$B$39:$M$39</c:f>
              <c:numCache>
                <c:formatCode>#0.0</c:formatCode>
                <c:ptCount val="12"/>
                <c:pt idx="0">
                  <c:v>209.4</c:v>
                </c:pt>
                <c:pt idx="1">
                  <c:v>210.2</c:v>
                </c:pt>
                <c:pt idx="2">
                  <c:v>208.9</c:v>
                </c:pt>
                <c:pt idx="3">
                  <c:v>208.9</c:v>
                </c:pt>
                <c:pt idx="4">
                  <c:v>210.4</c:v>
                </c:pt>
                <c:pt idx="5">
                  <c:v>211.4</c:v>
                </c:pt>
                <c:pt idx="6">
                  <c:v>210.8</c:v>
                </c:pt>
                <c:pt idx="7">
                  <c:v>211.7</c:v>
                </c:pt>
                <c:pt idx="8">
                  <c:v>211.5</c:v>
                </c:pt>
                <c:pt idx="9">
                  <c:v>211.5</c:v>
                </c:pt>
                <c:pt idx="10">
                  <c:v>212.8</c:v>
                </c:pt>
                <c:pt idx="11">
                  <c:v>213.1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29-4348-A0B5-7037328AE0D0}"/>
            </c:ext>
          </c:extLst>
        </c:ser>
        <c:ser>
          <c:idx val="4"/>
          <c:order val="4"/>
          <c:tx>
            <c:strRef>
              <c:f>'BLS Data Series'!$A$40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Series'!$B$40:$M$40</c:f>
              <c:numCache>
                <c:formatCode>#0.0</c:formatCode>
                <c:ptCount val="12"/>
                <c:pt idx="0">
                  <c:v>212.3</c:v>
                </c:pt>
                <c:pt idx="1">
                  <c:v>211.6</c:v>
                </c:pt>
                <c:pt idx="2">
                  <c:v>212.1</c:v>
                </c:pt>
                <c:pt idx="3">
                  <c:v>211.2</c:v>
                </c:pt>
                <c:pt idx="4">
                  <c:v>210.4</c:v>
                </c:pt>
                <c:pt idx="5">
                  <c:v>211.1</c:v>
                </c:pt>
                <c:pt idx="6">
                  <c:v>210.7</c:v>
                </c:pt>
                <c:pt idx="7">
                  <c:v>211.7</c:v>
                </c:pt>
                <c:pt idx="8">
                  <c:v>212</c:v>
                </c:pt>
                <c:pt idx="9">
                  <c:v>212.4</c:v>
                </c:pt>
                <c:pt idx="10">
                  <c:v>212.9</c:v>
                </c:pt>
                <c:pt idx="11">
                  <c:v>212.4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29-4348-A0B5-7037328AE0D0}"/>
            </c:ext>
          </c:extLst>
        </c:ser>
        <c:ser>
          <c:idx val="5"/>
          <c:order val="5"/>
          <c:tx>
            <c:strRef>
              <c:f>'BLS Data Series'!$A$41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Series'!$B$41:$M$41</c:f>
              <c:numCache>
                <c:formatCode>#0.0</c:formatCode>
                <c:ptCount val="12"/>
                <c:pt idx="0">
                  <c:v>215.6</c:v>
                </c:pt>
                <c:pt idx="1">
                  <c:v>214.7</c:v>
                </c:pt>
                <c:pt idx="2">
                  <c:v>215.2</c:v>
                </c:pt>
                <c:pt idx="3">
                  <c:v>215.3</c:v>
                </c:pt>
                <c:pt idx="4">
                  <c:v>217.5</c:v>
                </c:pt>
                <c:pt idx="5">
                  <c:v>217.1</c:v>
                </c:pt>
                <c:pt idx="6">
                  <c:v>217.3</c:v>
                </c:pt>
                <c:pt idx="7">
                  <c:v>216.8</c:v>
                </c:pt>
                <c:pt idx="8">
                  <c:v>219</c:v>
                </c:pt>
                <c:pt idx="9">
                  <c:v>219.1</c:v>
                </c:pt>
                <c:pt idx="10">
                  <c:v>220.2</c:v>
                </c:pt>
                <c:pt idx="11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29-4348-A0B5-7037328AE0D0}"/>
            </c:ext>
          </c:extLst>
        </c:ser>
        <c:ser>
          <c:idx val="6"/>
          <c:order val="6"/>
          <c:tx>
            <c:strRef>
              <c:f>'BLS Data Series'!$A$42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Series'!$B$42:$M$42</c:f>
              <c:numCache>
                <c:formatCode>#0.0</c:formatCode>
                <c:ptCount val="12"/>
                <c:pt idx="0">
                  <c:v>220.8</c:v>
                </c:pt>
                <c:pt idx="1">
                  <c:v>221.1</c:v>
                </c:pt>
                <c:pt idx="2">
                  <c:v>220.4</c:v>
                </c:pt>
                <c:pt idx="3">
                  <c:v>220.5</c:v>
                </c:pt>
                <c:pt idx="4">
                  <c:v>221.6</c:v>
                </c:pt>
                <c:pt idx="5">
                  <c:v>220.8</c:v>
                </c:pt>
                <c:pt idx="6" formatCode="#0.000">
                  <c:v>221.476</c:v>
                </c:pt>
                <c:pt idx="7" formatCode="#0.000">
                  <c:v>223.595</c:v>
                </c:pt>
                <c:pt idx="8" formatCode="#0.000">
                  <c:v>226.60599999999999</c:v>
                </c:pt>
                <c:pt idx="9" formatCode="#0.000">
                  <c:v>228.935</c:v>
                </c:pt>
                <c:pt idx="10" formatCode="#0.000">
                  <c:v>229.06</c:v>
                </c:pt>
                <c:pt idx="11" formatCode="#0.000">
                  <c:v>231.726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29-4348-A0B5-7037328AE0D0}"/>
            </c:ext>
          </c:extLst>
        </c:ser>
        <c:ser>
          <c:idx val="7"/>
          <c:order val="7"/>
          <c:tx>
            <c:strRef>
              <c:f>'BLS Data Series'!$A$43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Series'!$B$43:$M$43</c:f>
              <c:numCache>
                <c:formatCode>#0.000</c:formatCode>
                <c:ptCount val="12"/>
                <c:pt idx="0">
                  <c:v>235.25200000000001</c:v>
                </c:pt>
                <c:pt idx="1">
                  <c:v>237.62700000000001</c:v>
                </c:pt>
                <c:pt idx="2">
                  <c:v>240.26400000000001</c:v>
                </c:pt>
                <c:pt idx="3">
                  <c:v>245.196</c:v>
                </c:pt>
                <c:pt idx="4">
                  <c:v>251.25700000000001</c:v>
                </c:pt>
                <c:pt idx="5">
                  <c:v>253.12299999999999</c:v>
                </c:pt>
                <c:pt idx="6">
                  <c:v>262.97000000000003</c:v>
                </c:pt>
                <c:pt idx="7">
                  <c:v>265.91300000000001</c:v>
                </c:pt>
                <c:pt idx="8">
                  <c:v>269.64100000000002</c:v>
                </c:pt>
                <c:pt idx="9">
                  <c:v>272.13400000000001</c:v>
                </c:pt>
                <c:pt idx="10">
                  <c:v>275.99299999999999</c:v>
                </c:pt>
                <c:pt idx="11">
                  <c:v>276.3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A29-4348-A0B5-7037328AE0D0}"/>
            </c:ext>
          </c:extLst>
        </c:ser>
        <c:ser>
          <c:idx val="8"/>
          <c:order val="8"/>
          <c:tx>
            <c:strRef>
              <c:f>'BLS Data Series'!$A$44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Series'!$B$44:$M$44</c:f>
              <c:numCache>
                <c:formatCode>#0.000</c:formatCode>
                <c:ptCount val="12"/>
                <c:pt idx="0">
                  <c:v>278.42899999999997</c:v>
                </c:pt>
                <c:pt idx="1">
                  <c:v>279.36900000000003</c:v>
                </c:pt>
                <c:pt idx="2">
                  <c:v>282.62900000000002</c:v>
                </c:pt>
                <c:pt idx="3">
                  <c:v>280.95800000000003</c:v>
                </c:pt>
                <c:pt idx="4">
                  <c:v>285.53300000000002</c:v>
                </c:pt>
                <c:pt idx="5">
                  <c:v>285.83999999999997</c:v>
                </c:pt>
                <c:pt idx="6">
                  <c:v>287.19299999999998</c:v>
                </c:pt>
                <c:pt idx="7">
                  <c:v>293.17200000000003</c:v>
                </c:pt>
                <c:pt idx="8">
                  <c:v>291.77699999999999</c:v>
                </c:pt>
                <c:pt idx="9">
                  <c:v>291.78899999999999</c:v>
                </c:pt>
                <c:pt idx="10">
                  <c:v>292.60599999999999</c:v>
                </c:pt>
                <c:pt idx="11">
                  <c:v>292.33499999999998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29-4348-A0B5-7037328AE0D0}"/>
            </c:ext>
          </c:extLst>
        </c:ser>
        <c:ser>
          <c:idx val="9"/>
          <c:order val="9"/>
          <c:tx>
            <c:strRef>
              <c:f>'BLS Data Series'!$A$45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Series'!$B$45:$M$45</c:f>
              <c:numCache>
                <c:formatCode>#0.000</c:formatCode>
                <c:ptCount val="12"/>
                <c:pt idx="0">
                  <c:v>292.41199999999998</c:v>
                </c:pt>
                <c:pt idx="1">
                  <c:v>296.27999999999997</c:v>
                </c:pt>
                <c:pt idx="2">
                  <c:v>292.11799999999999</c:v>
                </c:pt>
                <c:pt idx="3">
                  <c:v>291.93599999999998</c:v>
                </c:pt>
                <c:pt idx="4">
                  <c:v>293.94499999999999</c:v>
                </c:pt>
                <c:pt idx="5">
                  <c:v>294.13799999999998</c:v>
                </c:pt>
                <c:pt idx="6">
                  <c:v>294.11399999999998</c:v>
                </c:pt>
                <c:pt idx="7">
                  <c:v>295.17599999999999</c:v>
                </c:pt>
                <c:pt idx="8">
                  <c:v>295.35899999999998</c:v>
                </c:pt>
                <c:pt idx="9">
                  <c:v>295.36399999999998</c:v>
                </c:pt>
                <c:pt idx="10">
                  <c:v>295.94200000000001</c:v>
                </c:pt>
                <c:pt idx="11">
                  <c:v>293.67200000000003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A29-4348-A0B5-7037328AE0D0}"/>
            </c:ext>
          </c:extLst>
        </c:ser>
        <c:ser>
          <c:idx val="10"/>
          <c:order val="10"/>
          <c:tx>
            <c:strRef>
              <c:f>'BLS Data Series'!$A$46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'BLS Data Series'!$B$35:$M$35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'BLS Data Series'!$B$46:$M$46</c:f>
              <c:numCache>
                <c:formatCode>#0.000</c:formatCode>
                <c:ptCount val="12"/>
                <c:pt idx="0">
                  <c:v>295.76600000000002</c:v>
                </c:pt>
                <c:pt idx="1">
                  <c:v>296.66800000000001</c:v>
                </c:pt>
                <c:pt idx="2">
                  <c:v>295.63499999999999</c:v>
                </c:pt>
                <c:pt idx="3">
                  <c:v>295.49900000000002</c:v>
                </c:pt>
                <c:pt idx="4">
                  <c:v>294.95999999999998</c:v>
                </c:pt>
                <c:pt idx="5">
                  <c:v>295.25200000000001</c:v>
                </c:pt>
                <c:pt idx="6">
                  <c:v>296.35700000000003</c:v>
                </c:pt>
                <c:pt idx="7">
                  <c:v>299.10500000000002</c:v>
                </c:pt>
                <c:pt idx="8">
                  <c:v>299.858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A29-4348-A0B5-7037328AE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9104000"/>
        <c:axId val="419105728"/>
      </c:barChart>
      <c:catAx>
        <c:axId val="41910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105728"/>
        <c:crosses val="autoZero"/>
        <c:auto val="1"/>
        <c:lblAlgn val="ctr"/>
        <c:lblOffset val="100"/>
        <c:noMultiLvlLbl val="0"/>
      </c:catAx>
      <c:valAx>
        <c:axId val="419105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10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'BLS Data Series'!$B$35</c:f>
              <c:strCache>
                <c:ptCount val="1"/>
                <c:pt idx="0">
                  <c:v>Jan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53975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50341666666666662"/>
                  <c:y val="0.2803306357538640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'BLS Data Series'!$A$36:$A$46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'BLS Data Series'!$B$36:$B$46</c:f>
              <c:numCache>
                <c:formatCode>#0.0</c:formatCode>
                <c:ptCount val="11"/>
                <c:pt idx="0">
                  <c:v>207.8</c:v>
                </c:pt>
                <c:pt idx="1">
                  <c:v>203.5</c:v>
                </c:pt>
                <c:pt idx="2">
                  <c:v>208.7</c:v>
                </c:pt>
                <c:pt idx="3">
                  <c:v>209.4</c:v>
                </c:pt>
                <c:pt idx="4">
                  <c:v>212.3</c:v>
                </c:pt>
                <c:pt idx="5">
                  <c:v>215.6</c:v>
                </c:pt>
                <c:pt idx="6">
                  <c:v>220.8</c:v>
                </c:pt>
                <c:pt idx="7" formatCode="#0.000">
                  <c:v>235.25200000000001</c:v>
                </c:pt>
                <c:pt idx="8" formatCode="#0.000">
                  <c:v>278.42899999999997</c:v>
                </c:pt>
                <c:pt idx="9" formatCode="#0.000">
                  <c:v>292.41199999999998</c:v>
                </c:pt>
                <c:pt idx="10" formatCode="#0.000">
                  <c:v>295.76600000000002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FE-4872-ADBD-FFB4CBC75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1696175"/>
        <c:axId val="560975551"/>
      </c:lineChart>
      <c:catAx>
        <c:axId val="731696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975551"/>
        <c:crosses val="autoZero"/>
        <c:auto val="1"/>
        <c:lblAlgn val="ctr"/>
        <c:lblOffset val="100"/>
        <c:noMultiLvlLbl val="0"/>
      </c:catAx>
      <c:valAx>
        <c:axId val="56097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1696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2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6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6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7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4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34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8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59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35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5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7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11/28/2025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67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78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77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44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38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09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8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47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652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23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988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49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483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449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59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48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28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26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07899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6176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03073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798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62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085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568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45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564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087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07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565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83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3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8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market-vegetables-market-stall-food-1092519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8F0-0A7E-E606-E210-FA8E2E53C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Report on Food Inflation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4DD72-3856-8D0F-1409-84D2D5305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By: Evan Hooper, Russel Ange, Rossi </a:t>
            </a:r>
            <a:r>
              <a:rPr lang="en-US" dirty="0" err="1"/>
              <a:t>Wachacha</a:t>
            </a:r>
            <a:r>
              <a:rPr lang="en-US" dirty="0"/>
              <a:t>, Layton Allen, Jackson Moseley </a:t>
            </a:r>
          </a:p>
        </p:txBody>
      </p:sp>
      <p:pic>
        <p:nvPicPr>
          <p:cNvPr id="5" name="Picture Placeholder 4" descr="A market with vegetables and signs&#10;&#10;AI-generated content may be incorrect.">
            <a:extLst>
              <a:ext uri="{FF2B5EF4-FFF2-40B4-BE49-F238E27FC236}">
                <a16:creationId xmlns:a16="http://schemas.microsoft.com/office/drawing/2014/main" id="{E481DFD3-11BC-2A76-85BA-5A9839B22E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2734" b="22734"/>
          <a:stretch>
            <a:fillRect/>
          </a:stretch>
        </p:blipFill>
        <p:spPr>
          <a:xfrm>
            <a:off x="0" y="0"/>
            <a:ext cx="12192000" cy="4986338"/>
          </a:xfrm>
        </p:spPr>
      </p:pic>
    </p:spTree>
    <p:extLst>
      <p:ext uri="{BB962C8B-B14F-4D97-AF65-F5344CB8AC3E}">
        <p14:creationId xmlns:p14="http://schemas.microsoft.com/office/powerpoint/2010/main" val="214936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F98F-C183-FD14-5F0D-A87F5B1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677B-3A8D-7964-8EED-D736529A477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First, we wanted to understand how expected producer prices (PPI) relate to expected consumer prices (CPI) across major food categories; in order to see how inflationary pressures move through the supply chain. </a:t>
            </a:r>
          </a:p>
          <a:p>
            <a:r>
              <a:rPr lang="en-US" dirty="0"/>
              <a:t>Second, we aimed to identify which CPI categories show the biggest differences between short-term (month-to-month) and long-term (year-over-year) inflation, helping us pinpoint areas of volatility that consumers are most likely to feel. </a:t>
            </a:r>
          </a:p>
          <a:p>
            <a:r>
              <a:rPr lang="en-US" dirty="0"/>
              <a:t>Third, we examined the accuracy and reliability of forecasted PPI prediction intervals compared to expected CPI values, to assess whether inflation forecasts realistically capture uncertainty and pass-through effects. 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70511B3A-07D8-8DFB-119F-1401675DB3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02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E6FE-FE37-1C3B-12F1-48499A48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5D6C-8761-8471-3E57-149A07BEFAE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Excel charts (historical trends): </a:t>
            </a:r>
            <a:r>
              <a:rPr lang="en-US" dirty="0"/>
              <a:t>Showed long‑run CPI and PPI patterns, seasonal peaks, and how producer prices track consumer prices over time.</a:t>
            </a:r>
          </a:p>
          <a:p>
            <a:r>
              <a:rPr lang="en-US" b="1" dirty="0"/>
              <a:t>Tableau dashboards (forecast dynamics): </a:t>
            </a:r>
            <a:r>
              <a:rPr lang="en-US" dirty="0"/>
              <a:t>Highlighted pass‑through strength across categories, volatility hotspots like beef and eggs, and CPI–PPI gaps.</a:t>
            </a:r>
          </a:p>
          <a:p>
            <a:r>
              <a:rPr lang="en-US" b="1" dirty="0"/>
              <a:t>Integrated insights: </a:t>
            </a:r>
            <a:r>
              <a:rPr lang="en-US" dirty="0"/>
              <a:t>Combining Excel and Tableau revealed both historical context and forecast uncertainty, making inflation trends clear and actionable.</a:t>
            </a:r>
          </a:p>
          <a:p>
            <a:endParaRPr lang="en-US" dirty="0"/>
          </a:p>
        </p:txBody>
      </p:sp>
      <p:pic>
        <p:nvPicPr>
          <p:cNvPr id="10" name="Picture Placeholder 9" descr="A pile of fruit on a table&#10;&#10;AI-generated content may be incorrect.">
            <a:extLst>
              <a:ext uri="{FF2B5EF4-FFF2-40B4-BE49-F238E27FC236}">
                <a16:creationId xmlns:a16="http://schemas.microsoft.com/office/drawing/2014/main" id="{19378FD5-B32F-6BE1-74CB-1FDB429D23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7817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E931-5F0D-FBFD-0551-E70A8C32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 to CPI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EAFD-46FD-B06A-BCF5-3BBE66A8E4C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Strong pass‑through in beef &amp; eggs:</a:t>
            </a:r>
            <a:r>
              <a:rPr lang="en-US" dirty="0"/>
              <a:t> Excel line charts and Tableau dashboards show steep producer price increases mirrored in consumer prices, with volatility persisting into 2026.</a:t>
            </a:r>
          </a:p>
          <a:p>
            <a:r>
              <a:rPr lang="en-US" b="1" dirty="0"/>
              <a:t>Weaker links in pork &amp; poultry:</a:t>
            </a:r>
            <a:r>
              <a:rPr lang="en-US" dirty="0"/>
              <a:t> Tableau gap analysis highlights only modest CPI changes despite wholesale increases.</a:t>
            </a:r>
          </a:p>
          <a:p>
            <a:r>
              <a:rPr lang="en-US" b="1" dirty="0"/>
              <a:t>Muted or smoothed categories:</a:t>
            </a:r>
            <a:r>
              <a:rPr lang="en-US" dirty="0"/>
              <a:t> Excel regression charts and Tableau dashboards show dairy, cereals, fats/oils, and produce with limited pass‑through, as retail smoothing keeps consumer prices stable even when farm‑level costs decline.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D597617C-8589-2ADF-B158-B3E0B5E105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249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CEE1-B9DD-BF2A-ADEF-B07FC12F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CPI Short-Term vs Long-Term Volatility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7A91-5CCC-3F31-D7F4-E5E35AE4242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Beef &amp; veal volatility:</a:t>
            </a:r>
            <a:r>
              <a:rPr lang="en-US" dirty="0"/>
              <a:t> Excel tables show a 2.7% monthly increase, while Tableau dashboards reveal a much larger 13.9% annual rise, signaling strong momentum.</a:t>
            </a:r>
          </a:p>
          <a:p>
            <a:r>
              <a:rPr lang="en-US" b="1" dirty="0"/>
              <a:t>Egg instability:</a:t>
            </a:r>
            <a:r>
              <a:rPr lang="en-US" dirty="0"/>
              <a:t> Excel data shows a slight monthly decline, but Tableau charts capture a double‑digit annual increase and a 31.7% year‑to‑date surge.</a:t>
            </a:r>
          </a:p>
          <a:p>
            <a:r>
              <a:rPr lang="en-US" b="1" dirty="0"/>
              <a:t>Category contrasts:</a:t>
            </a:r>
            <a:r>
              <a:rPr lang="en-US" dirty="0"/>
              <a:t> Tableau comparisons highlight broader meats and beverages with notable short‑ vs long‑term gaps, while Excel and Tableau outputs confirm staples like dairy, cereals, and bakery products remain relatively steady.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438D2180-BABB-BD35-15FE-069E63ED73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9168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4523-98D8-4205-2A78-917D1E8E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Forecast Intervals and Reliability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DFCE-6468-7BA3-1076-70C500EE734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Wide ranges in volatile categories:</a:t>
            </a:r>
            <a:r>
              <a:rPr lang="en-US" dirty="0"/>
              <a:t> Tableau scatter plots and Excel tables show cattle and eggs with the broadest prediction intervals, reflecting structural shocks.</a:t>
            </a:r>
          </a:p>
          <a:p>
            <a:r>
              <a:rPr lang="en-US" b="1" dirty="0"/>
              <a:t>Partial pass‑through:</a:t>
            </a:r>
            <a:r>
              <a:rPr lang="en-US" dirty="0"/>
              <a:t> Excel forecasts for cattle span 18–27% in 2025, while Tableau plots show CPI beef rising only ~9.5%, evidence of retail smoothing.</a:t>
            </a:r>
          </a:p>
          <a:p>
            <a:r>
              <a:rPr lang="en-US" b="1" dirty="0"/>
              <a:t>Moderated volatility in eggs:</a:t>
            </a:r>
            <a:r>
              <a:rPr lang="en-US" dirty="0"/>
              <a:t> Excel projects extreme ranges (23–61% in 2025, –76 to 127% in 2026), but Tableau visuals confirm CPI eggs track the same direction at smaller magnitudes, showing consumer markets buffer households from full producer swings.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402E4799-D9F0-B947-038C-2ECE14727B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878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8CE2-1A1C-79F6-341D-B40F28A8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Findings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EB2B2-8B4E-B8EB-F0D3-47D2C35DCE6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Uneven pass‑through:</a:t>
            </a:r>
            <a:r>
              <a:rPr lang="en-US" dirty="0"/>
              <a:t> Excel forecast tables and Tableau dashboards show beef and eggs with strong producer‑to‑consumer transmission, while dairy, cereals, and produce remain muted due to processing and retail smoothing.</a:t>
            </a:r>
          </a:p>
          <a:p>
            <a:r>
              <a:rPr lang="en-US" b="1" dirty="0"/>
              <a:t>Volatility concentrated in proteins:</a:t>
            </a:r>
            <a:r>
              <a:rPr lang="en-US" dirty="0"/>
              <a:t> Tableau short‑ vs long‑term CPI charts highlight beef and eggs as highly unpredictable, with wide forecast ranges in Excel and moderated CPI midpoints confirming partial pass‑through.</a:t>
            </a:r>
          </a:p>
          <a:p>
            <a:r>
              <a:rPr lang="en-US" b="1" dirty="0"/>
              <a:t>Retail smoothing effects:</a:t>
            </a:r>
            <a:r>
              <a:rPr lang="en-US" dirty="0"/>
              <a:t> Excel multi‑year bar charts and Tableau dashboards on fruits and vegetables show farm‑level swings but stable consumer prices, underscoring how retail dynamics buffer households from extreme shocks.</a:t>
            </a:r>
          </a:p>
        </p:txBody>
      </p:sp>
      <p:pic>
        <p:nvPicPr>
          <p:cNvPr id="7" name="Picture Placeholder 6" descr="A pile of fruit on a table&#10;&#10;AI-generated content may be incorrect.">
            <a:extLst>
              <a:ext uri="{FF2B5EF4-FFF2-40B4-BE49-F238E27FC236}">
                <a16:creationId xmlns:a16="http://schemas.microsoft.com/office/drawing/2014/main" id="{3961F935-5B14-083C-491D-FEAA717DB7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4884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B70F-B142-F0F1-9126-5DC24E68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Tableau Charts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147FB-DFFD-862D-CB4C-A3818A50F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311" y="3627276"/>
            <a:ext cx="4769498" cy="2980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23B82-86F8-4C3F-904F-4FD3720452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58" y="0"/>
            <a:ext cx="5803641" cy="3627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54D8BA-565A-0ABF-C716-F5CB29F124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58" y="2131462"/>
            <a:ext cx="5943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4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F34A-8EE3-0505-0717-9C403E78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Excel Charts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434B779-3654-3B12-8B72-E720B06D7F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886960"/>
              </p:ext>
            </p:extLst>
          </p:nvPr>
        </p:nvGraphicFramePr>
        <p:xfrm>
          <a:off x="6159759" y="83774"/>
          <a:ext cx="5943600" cy="355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BCE6A0A-2FA9-A4AB-86F7-7088DEBC99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005361"/>
              </p:ext>
            </p:extLst>
          </p:nvPr>
        </p:nvGraphicFramePr>
        <p:xfrm>
          <a:off x="7264528" y="3716203"/>
          <a:ext cx="4314825" cy="2570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FD1F22E-D8C4-B31B-6E0E-FBFCE1BC62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23356"/>
              </p:ext>
            </p:extLst>
          </p:nvPr>
        </p:nvGraphicFramePr>
        <p:xfrm>
          <a:off x="144528" y="3393645"/>
          <a:ext cx="6483350" cy="3380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ACB2788-1B71-3CAC-1208-13227AB69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4594284"/>
              </p:ext>
            </p:extLst>
          </p:nvPr>
        </p:nvGraphicFramePr>
        <p:xfrm>
          <a:off x="459678" y="786384"/>
          <a:ext cx="4324350" cy="257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8021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AE97-6DFE-F47D-C891-E980D26B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0C48-BD41-8FC6-B91F-73FA62EFA26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Integrated approach:</a:t>
            </a:r>
            <a:r>
              <a:rPr lang="en-US" dirty="0"/>
              <a:t> Excel forecast tables and Tableau dashboards together provide a structured view of inflation dynamics across the food supply chain.</a:t>
            </a:r>
          </a:p>
          <a:p>
            <a:r>
              <a:rPr lang="en-US" b="1" dirty="0"/>
              <a:t>Key insights:</a:t>
            </a:r>
            <a:r>
              <a:rPr lang="en-US" dirty="0"/>
              <a:t> Excel charts quantified historical trends and forecast ranges, while Tableau visuals highlighted pass‑through strength, volatility hotspots, and CPI–PPI gaps.</a:t>
            </a:r>
          </a:p>
          <a:p>
            <a:r>
              <a:rPr lang="en-US" b="1" dirty="0"/>
              <a:t>Practical framework:</a:t>
            </a:r>
            <a:r>
              <a:rPr lang="en-US" dirty="0"/>
              <a:t> Findings show where producer costs most affect consumers, how volatility is moderated, and offer guidance for policymakers, retailers, and households to anticipate and manage inflationary pressures.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BA0C53B2-C794-321B-5DF6-3DC419021F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4445963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742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Helena</vt:lpstr>
      <vt:lpstr>Report on Food Inflation Dynamics</vt:lpstr>
      <vt:lpstr>Objectives </vt:lpstr>
      <vt:lpstr>Methodology  </vt:lpstr>
      <vt:lpstr>PPI to CPI Relationships</vt:lpstr>
      <vt:lpstr> CPI Short-Term vs Long-Term Volatility</vt:lpstr>
      <vt:lpstr>Forecast Intervals and Reliability </vt:lpstr>
      <vt:lpstr>Key Findings </vt:lpstr>
      <vt:lpstr>Tableau Charts </vt:lpstr>
      <vt:lpstr>Excel Charts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Hooper</dc:creator>
  <cp:lastModifiedBy>Evan Hooper</cp:lastModifiedBy>
  <cp:revision>1</cp:revision>
  <dcterms:created xsi:type="dcterms:W3CDTF">2025-11-28T15:37:15Z</dcterms:created>
  <dcterms:modified xsi:type="dcterms:W3CDTF">2025-11-28T22:31:23Z</dcterms:modified>
</cp:coreProperties>
</file>